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81" r:id="rId3"/>
    <p:sldId id="282" r:id="rId4"/>
    <p:sldId id="257" r:id="rId5"/>
    <p:sldId id="258" r:id="rId6"/>
    <p:sldId id="261" r:id="rId7"/>
    <p:sldId id="260" r:id="rId8"/>
    <p:sldId id="280" r:id="rId9"/>
    <p:sldId id="262" r:id="rId10"/>
    <p:sldId id="267" r:id="rId11"/>
    <p:sldId id="270" r:id="rId12"/>
    <p:sldId id="271" r:id="rId13"/>
    <p:sldId id="272" r:id="rId14"/>
    <p:sldId id="273" r:id="rId15"/>
    <p:sldId id="274" r:id="rId16"/>
    <p:sldId id="279" r:id="rId17"/>
    <p:sldId id="275" r:id="rId18"/>
    <p:sldId id="276" r:id="rId19"/>
    <p:sldId id="284" r:id="rId20"/>
    <p:sldId id="277" r:id="rId21"/>
    <p:sldId id="278" r:id="rId22"/>
    <p:sldId id="283" r:id="rId23"/>
  </p:sldIdLst>
  <p:sldSz cx="9144000" cy="6858000" type="screen4x3"/>
  <p:notesSz cx="6807200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94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6EBA1-DADA-453A-8D3D-8769A592EADC}" type="datetimeFigureOut">
              <a:rPr lang="fr-FR" smtClean="0"/>
              <a:t>26/03/2013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0720" y="4705350"/>
            <a:ext cx="5445760" cy="4457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5838" y="9408981"/>
            <a:ext cx="294978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23D45-766E-4C8C-B5A9-FD181A2251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2505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23D45-766E-4C8C-B5A9-FD181A225157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203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1145B32-482F-4BFF-8759-1ACA049461D8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BE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4F014B9-9F20-4092-9595-BAA133C6C39A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58B12A6-234C-420E-9227-5DDDEB188A82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BE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5F5CF-7DB4-45A0-AC6E-1CB01E3CC72A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2C8C0-958D-47DC-BA86-CCAE42DBE153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D912298-4834-479E-B6A1-F04243C4AAEC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F2C8-BC0B-49C7-A78A-DC6867028E4A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0663E1-ED12-4DBE-9A93-4EF3035900D7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dirty="0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E0E59A2-5D9B-486D-93EF-281F743AFB0E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8144-9C8E-43ED-ADCF-E6689B3B52F6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7263-801C-46A7-9743-65CDB5C93D2F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23350E6-65E9-4F8C-B343-1D84E91367A2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fr.wikipedia.org/wiki/Patron_de_concep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7.JPG"/><Relationship Id="rId7" Type="http://schemas.openxmlformats.org/officeDocument/2006/relationships/image" Target="../media/image30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13.png"/><Relationship Id="rId9" Type="http://schemas.openxmlformats.org/officeDocument/2006/relationships/image" Target="../media/image32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Pattern Iterator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Pattern Itérateur en français 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82E-976F-4F93-8F77-EF3482D03D3A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8336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3200" dirty="0"/>
              <a:t>Introduction au Design Pattern </a:t>
            </a:r>
            <a:r>
              <a:rPr lang="fr-FR" sz="3200" dirty="0" smtClean="0"/>
              <a:t>Iterator</a:t>
            </a:r>
          </a:p>
          <a:p>
            <a:r>
              <a:rPr lang="fr-FR" sz="3200" dirty="0"/>
              <a:t>Application du Pattern avec les interfaces </a:t>
            </a:r>
            <a:r>
              <a:rPr lang="fr-FR" sz="3200" dirty="0" smtClean="0"/>
              <a:t>IEnumerator </a:t>
            </a:r>
            <a:r>
              <a:rPr lang="fr-FR" sz="3200" dirty="0"/>
              <a:t>et </a:t>
            </a:r>
            <a:r>
              <a:rPr lang="fr-FR" sz="3200" dirty="0" smtClean="0"/>
              <a:t>IEnumerable </a:t>
            </a:r>
            <a:r>
              <a:rPr lang="fr-FR" sz="3200" dirty="0"/>
              <a:t>de </a:t>
            </a:r>
            <a:r>
              <a:rPr lang="fr-FR" sz="3200" dirty="0" smtClean="0"/>
              <a:t>C#</a:t>
            </a:r>
            <a:endParaRPr lang="fr-FR" sz="3200" dirty="0"/>
          </a:p>
          <a:p>
            <a:r>
              <a:rPr lang="fr-FR" sz="3200" dirty="0"/>
              <a:t>Application du Pattern avec des interfaces </a:t>
            </a:r>
            <a:r>
              <a:rPr lang="fr-FR" sz="3200" dirty="0" smtClean="0"/>
              <a:t>génériques</a:t>
            </a:r>
          </a:p>
          <a:p>
            <a:r>
              <a:rPr lang="fr-FR" sz="3200" dirty="0" smtClean="0"/>
              <a:t>Conclusion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E0FD23-709F-41F3-BA1F-8136590CE8DF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1881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au </a:t>
            </a:r>
            <a:r>
              <a:rPr lang="fr-FR" dirty="0"/>
              <a:t>D</a:t>
            </a:r>
            <a:r>
              <a:rPr lang="fr-FR" dirty="0" smtClean="0"/>
              <a:t>esign Pattern Iterator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E30D5-C83D-4C9A-BCA3-73EABFFCA0BC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3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7958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C’est quoi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Le pattern </a:t>
            </a:r>
            <a:r>
              <a:rPr lang="fr-FR" b="1" dirty="0" smtClean="0"/>
              <a:t>Iterator</a:t>
            </a:r>
            <a:r>
              <a:rPr lang="fr-FR" dirty="0" smtClean="0"/>
              <a:t> </a:t>
            </a:r>
            <a:r>
              <a:rPr lang="fr-FR" dirty="0"/>
              <a:t>est un </a:t>
            </a:r>
            <a:r>
              <a:rPr lang="fr-FR" dirty="0">
                <a:hlinkClick r:id="rId2" action="ppaction://hlinkfile" tooltip="Patron de conception"/>
              </a:rPr>
              <a:t>patron de conception</a:t>
            </a:r>
            <a:r>
              <a:rPr lang="fr-FR" dirty="0"/>
              <a:t> </a:t>
            </a:r>
            <a:r>
              <a:rPr lang="fr-FR" dirty="0" smtClean="0"/>
              <a:t>(</a:t>
            </a:r>
            <a:r>
              <a:rPr lang="fr-FR" i="1" dirty="0" smtClean="0"/>
              <a:t>design pattern</a:t>
            </a:r>
            <a:r>
              <a:rPr lang="fr-FR" dirty="0" smtClean="0"/>
              <a:t>) </a:t>
            </a:r>
            <a:r>
              <a:rPr lang="fr-FR" dirty="0" smtClean="0">
                <a:hlinkClick r:id="rId2" action="ppaction://hlinkfile" tooltip="Patron de conception"/>
              </a:rPr>
              <a:t>comportemental</a:t>
            </a:r>
            <a:r>
              <a:rPr lang="fr-FR" dirty="0" smtClean="0"/>
              <a:t>. </a:t>
            </a:r>
            <a:r>
              <a:rPr lang="fr-FR" dirty="0"/>
              <a:t>Ce patron permet de </a:t>
            </a:r>
            <a:r>
              <a:rPr lang="fr-FR" dirty="0" smtClean="0"/>
              <a:t>parcourir tous les éléments contenus dans une collection.</a:t>
            </a:r>
          </a:p>
          <a:p>
            <a:r>
              <a:rPr lang="fr-FR" dirty="0"/>
              <a:t>Un I</a:t>
            </a:r>
            <a:r>
              <a:rPr lang="fr-FR" dirty="0" smtClean="0"/>
              <a:t>térateur </a:t>
            </a:r>
            <a:r>
              <a:rPr lang="fr-FR" dirty="0"/>
              <a:t>ressemble à un </a:t>
            </a:r>
            <a:r>
              <a:rPr lang="fr-FR" dirty="0" smtClean="0"/>
              <a:t>pointeur </a:t>
            </a:r>
            <a:r>
              <a:rPr lang="fr-FR" dirty="0"/>
              <a:t>disposant essentiellement de deux </a:t>
            </a:r>
            <a:r>
              <a:rPr lang="fr-FR" dirty="0" smtClean="0"/>
              <a:t>fonctions simples:</a:t>
            </a:r>
            <a:r>
              <a:rPr lang="fr-FR" dirty="0"/>
              <a:t> </a:t>
            </a:r>
            <a:endParaRPr lang="fr-FR" dirty="0" smtClean="0"/>
          </a:p>
          <a:p>
            <a:pPr lvl="1"/>
            <a:r>
              <a:rPr lang="fr-FR" i="1" dirty="0" smtClean="0"/>
              <a:t>accéder</a:t>
            </a:r>
            <a:r>
              <a:rPr lang="fr-FR" dirty="0"/>
              <a:t> à l'élément pointé en cours (dans </a:t>
            </a:r>
            <a:r>
              <a:rPr lang="fr-FR" dirty="0" smtClean="0"/>
              <a:t>la collection)</a:t>
            </a:r>
          </a:p>
          <a:p>
            <a:pPr lvl="1"/>
            <a:r>
              <a:rPr lang="fr-FR" i="1" dirty="0" smtClean="0"/>
              <a:t>se </a:t>
            </a:r>
            <a:r>
              <a:rPr lang="fr-FR" i="1" dirty="0"/>
              <a:t>déplacer</a:t>
            </a:r>
            <a:r>
              <a:rPr lang="fr-FR" dirty="0"/>
              <a:t> pour pointer vers l'élément </a:t>
            </a:r>
            <a:r>
              <a:rPr lang="fr-FR" dirty="0" smtClean="0"/>
              <a:t>suivant.</a:t>
            </a:r>
          </a:p>
          <a:p>
            <a:r>
              <a:rPr lang="fr-FR" dirty="0" smtClean="0"/>
              <a:t>Il </a:t>
            </a:r>
            <a:r>
              <a:rPr lang="fr-FR" dirty="0"/>
              <a:t>faut pouvoir créer un I</a:t>
            </a:r>
            <a:r>
              <a:rPr lang="fr-FR" dirty="0" smtClean="0"/>
              <a:t>térateur </a:t>
            </a:r>
            <a:r>
              <a:rPr lang="fr-FR" dirty="0"/>
              <a:t>pointant sur le premier élément ; ainsi que déterminer à tout moment si </a:t>
            </a:r>
            <a:r>
              <a:rPr lang="fr-FR" dirty="0" smtClean="0"/>
              <a:t>l‘Itérateur </a:t>
            </a:r>
            <a:r>
              <a:rPr lang="fr-FR" dirty="0"/>
              <a:t>a épuisé la totalité des éléments du conteneur.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0E2038-7C73-49B3-A2E6-F5637A07CFC3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6480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Quand</a:t>
            </a:r>
            <a:r>
              <a:rPr lang="fr-FR" b="1" dirty="0"/>
              <a:t> </a:t>
            </a:r>
            <a:r>
              <a:rPr lang="fr-FR" dirty="0"/>
              <a:t>l'utiliser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Le but d'un I</a:t>
            </a:r>
            <a:r>
              <a:rPr lang="fr-FR" dirty="0" smtClean="0"/>
              <a:t>térateur </a:t>
            </a:r>
            <a:r>
              <a:rPr lang="fr-FR" dirty="0"/>
              <a:t>est de permettre à son utilisateur de </a:t>
            </a:r>
            <a:r>
              <a:rPr lang="fr-FR" i="1" dirty="0"/>
              <a:t>parcourir</a:t>
            </a:r>
            <a:r>
              <a:rPr lang="fr-FR" dirty="0"/>
              <a:t> </a:t>
            </a:r>
            <a:r>
              <a:rPr lang="fr-FR" dirty="0" smtClean="0"/>
              <a:t>le conteneur, </a:t>
            </a:r>
            <a:r>
              <a:rPr lang="fr-FR" dirty="0"/>
              <a:t>c'est-à-dire d'accéder séquentiellement à tous ses éléments pour leur appliquer un </a:t>
            </a:r>
            <a:r>
              <a:rPr lang="fr-FR" dirty="0" smtClean="0"/>
              <a:t>traitement, en cachant la complexité de parcourir les éléments de la collection.</a:t>
            </a:r>
          </a:p>
          <a:p>
            <a:r>
              <a:rPr lang="fr-FR" dirty="0" smtClean="0"/>
              <a:t>La collection peut </a:t>
            </a:r>
            <a:r>
              <a:rPr lang="fr-FR" dirty="0"/>
              <a:t>stocker les éléments de la façon </a:t>
            </a:r>
            <a:r>
              <a:rPr lang="fr-FR" dirty="0" smtClean="0"/>
              <a:t>qu‘elle </a:t>
            </a:r>
            <a:r>
              <a:rPr lang="fr-FR" dirty="0"/>
              <a:t>veut, tout en permettant à l'utilisateur de </a:t>
            </a:r>
            <a:r>
              <a:rPr lang="fr-FR" dirty="0" smtClean="0"/>
              <a:t>la </a:t>
            </a:r>
            <a:r>
              <a:rPr lang="fr-FR" dirty="0"/>
              <a:t>traiter comme une simple </a:t>
            </a:r>
            <a:r>
              <a:rPr lang="fr-FR" dirty="0" smtClean="0"/>
              <a:t>liste.</a:t>
            </a:r>
          </a:p>
          <a:p>
            <a:r>
              <a:rPr lang="fr-FR" dirty="0" smtClean="0"/>
              <a:t>Le </a:t>
            </a:r>
            <a:r>
              <a:rPr lang="fr-FR" dirty="0"/>
              <a:t>plus souvent </a:t>
            </a:r>
            <a:r>
              <a:rPr lang="fr-FR" dirty="0" smtClean="0"/>
              <a:t>l’itérateur </a:t>
            </a:r>
            <a:r>
              <a:rPr lang="fr-FR" dirty="0"/>
              <a:t>est conçu en même temps que la classe-conteneur qu'il devra parcourir, et ce sera le conteneur lui-même qui créera et distribuera les </a:t>
            </a:r>
            <a:r>
              <a:rPr lang="fr-FR" dirty="0" smtClean="0"/>
              <a:t>itérateurs </a:t>
            </a:r>
            <a:r>
              <a:rPr lang="fr-FR" dirty="0"/>
              <a:t>pour accéder à ses éléments.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BEC7141-8164-4A69-B508-CCD77C93164D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324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628800"/>
            <a:ext cx="5760640" cy="3996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Pattern Itérator</a:t>
            </a:r>
            <a:endParaRPr lang="fr-FR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628800"/>
            <a:ext cx="5832648" cy="3864099"/>
          </a:xfr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5264"/>
            <a:ext cx="5905500" cy="609600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861048"/>
            <a:ext cx="1296144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36912"/>
            <a:ext cx="1981200" cy="230505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48" y="5085185"/>
            <a:ext cx="1171575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8AD54E-0BC2-4DC8-9880-C50F1560D4A0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6</a:t>
            </a:fld>
            <a:endParaRPr lang="fr-BE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003" y="2308299"/>
            <a:ext cx="1296144" cy="68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292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de classe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772626"/>
            <a:ext cx="2238375" cy="32956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917" y="1541942"/>
            <a:ext cx="3363553" cy="2189939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530" y="4149080"/>
            <a:ext cx="18383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592EA4-65E8-4268-8A46-3A56C2C50D4B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7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3951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Application du Pattern avec les interfaces IEnumerator et IEnumerable de c#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0112-163A-4F00-9D3E-C755F12009D2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8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4174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 smtClean="0"/>
              <a:t>Exemples : Liste de joueurs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324744"/>
          </a:xfrm>
        </p:spPr>
        <p:txBody>
          <a:bodyPr>
            <a:normAutofit/>
          </a:bodyPr>
          <a:lstStyle/>
          <a:p>
            <a:r>
              <a:rPr lang="fr-FR" dirty="0" smtClean="0"/>
              <a:t>Diagramme de classe permettant de réaliser des </a:t>
            </a:r>
            <a:r>
              <a:rPr lang="fr-FR" dirty="0"/>
              <a:t>i</a:t>
            </a:r>
            <a:r>
              <a:rPr lang="fr-FR" dirty="0" smtClean="0"/>
              <a:t>térations sur les joueurs de la ListeDeJoueurs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437112"/>
            <a:ext cx="8568952" cy="2205661"/>
          </a:xfrm>
          <a:prstGeom prst="rect">
            <a:avLst/>
          </a:prstGeom>
        </p:spPr>
      </p:pic>
      <p:sp>
        <p:nvSpPr>
          <p:cNvPr id="13" name="Double flèche verticale 12"/>
          <p:cNvSpPr/>
          <p:nvPr/>
        </p:nvSpPr>
        <p:spPr>
          <a:xfrm>
            <a:off x="3563888" y="3701843"/>
            <a:ext cx="449389" cy="73526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Double flèche verticale 13"/>
          <p:cNvSpPr/>
          <p:nvPr/>
        </p:nvSpPr>
        <p:spPr>
          <a:xfrm>
            <a:off x="6857609" y="4069477"/>
            <a:ext cx="341867" cy="50405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1114EE-0A19-45FF-A4BB-D1BEC50EACDA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9</a:t>
            </a:fld>
            <a:endParaRPr lang="fr-BE" dirty="0"/>
          </a:p>
        </p:txBody>
      </p:sp>
      <p:grpSp>
        <p:nvGrpSpPr>
          <p:cNvPr id="10" name="Groupe 9"/>
          <p:cNvGrpSpPr/>
          <p:nvPr/>
        </p:nvGrpSpPr>
        <p:grpSpPr>
          <a:xfrm>
            <a:off x="2611828" y="2516097"/>
            <a:ext cx="2319024" cy="1143000"/>
            <a:chOff x="2611828" y="2516097"/>
            <a:chExt cx="2319024" cy="1143000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1828" y="2516097"/>
              <a:ext cx="1685925" cy="1143000"/>
            </a:xfrm>
            <a:prstGeom prst="rect">
              <a:avLst/>
            </a:prstGeom>
          </p:spPr>
        </p:pic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7877" y="3332692"/>
              <a:ext cx="9429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e 6"/>
          <p:cNvGrpSpPr/>
          <p:nvPr/>
        </p:nvGrpSpPr>
        <p:grpSpPr>
          <a:xfrm>
            <a:off x="6157004" y="2345452"/>
            <a:ext cx="1871147" cy="1724025"/>
            <a:chOff x="6157004" y="2345452"/>
            <a:chExt cx="1871147" cy="1724025"/>
          </a:xfrm>
        </p:grpSpPr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7004" y="2345452"/>
              <a:ext cx="1743075" cy="1724025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9476" y="3196913"/>
              <a:ext cx="828675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90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Pattern Iterator en C#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1556792"/>
            <a:ext cx="5040560" cy="504056"/>
          </a:xfrm>
        </p:spPr>
        <p:txBody>
          <a:bodyPr/>
          <a:lstStyle/>
          <a:p>
            <a:r>
              <a:rPr lang="fr-FR" dirty="0" smtClean="0"/>
              <a:t> </a:t>
            </a:r>
            <a:r>
              <a:rPr lang="fr-FR" dirty="0"/>
              <a:t>Interface IEnumerator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060848"/>
            <a:ext cx="7000875" cy="4608512"/>
          </a:xfrm>
          <a:prstGeom prst="rect">
            <a:avLst/>
          </a:prstGeom>
        </p:spPr>
      </p:pic>
      <p:sp>
        <p:nvSpPr>
          <p:cNvPr id="6" name="Espace réservé de la date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0BC48C0-EA9F-44DB-BA97-3A605C8CB53F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10</a:t>
            </a:fld>
            <a:endParaRPr lang="fr-BE" dirty="0"/>
          </a:p>
        </p:txBody>
      </p:sp>
      <p:grpSp>
        <p:nvGrpSpPr>
          <p:cNvPr id="10" name="Groupe 9"/>
          <p:cNvGrpSpPr/>
          <p:nvPr/>
        </p:nvGrpSpPr>
        <p:grpSpPr>
          <a:xfrm>
            <a:off x="5868144" y="1198835"/>
            <a:ext cx="1836787" cy="1724025"/>
            <a:chOff x="5868144" y="1198835"/>
            <a:chExt cx="1836787" cy="1724025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144" y="1198835"/>
              <a:ext cx="1743075" cy="1724025"/>
            </a:xfrm>
            <a:prstGeom prst="rect">
              <a:avLst/>
            </a:prstGeom>
          </p:spPr>
        </p:pic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256" y="2060847"/>
              <a:ext cx="828675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78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Pattern Iterator en C</a:t>
            </a:r>
            <a:r>
              <a:rPr lang="fr-FR" dirty="0" smtClean="0"/>
              <a:t># (suite)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Interface IEnumerable</a:t>
            </a:r>
            <a:endParaRPr lang="fr-FR" dirty="0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04CE55-FC56-4381-B2FD-693A130CBB19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11</a:t>
            </a:fld>
            <a:endParaRPr lang="fr-BE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28" y="2348880"/>
            <a:ext cx="7632848" cy="3759307"/>
          </a:xfrm>
          <a:prstGeom prst="rect">
            <a:avLst/>
          </a:prstGeom>
        </p:spPr>
      </p:pic>
      <p:grpSp>
        <p:nvGrpSpPr>
          <p:cNvPr id="8" name="Groupe 7"/>
          <p:cNvGrpSpPr/>
          <p:nvPr/>
        </p:nvGrpSpPr>
        <p:grpSpPr>
          <a:xfrm>
            <a:off x="5474228" y="1633364"/>
            <a:ext cx="2345003" cy="1143000"/>
            <a:chOff x="5474228" y="1633364"/>
            <a:chExt cx="2345003" cy="1143000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4228" y="1633364"/>
              <a:ext cx="1685925" cy="1143000"/>
            </a:xfrm>
            <a:prstGeom prst="rect">
              <a:avLst/>
            </a:prstGeom>
          </p:spPr>
        </p:pic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6256" y="2420888"/>
              <a:ext cx="9429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083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907" y="4725144"/>
            <a:ext cx="5885402" cy="186266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1ère </a:t>
            </a:r>
            <a:r>
              <a:rPr lang="fr-FR" dirty="0"/>
              <a:t>f</a:t>
            </a:r>
            <a:r>
              <a:rPr lang="fr-FR" dirty="0" smtClean="0"/>
              <a:t>açon </a:t>
            </a:r>
            <a:r>
              <a:rPr lang="fr-FR" dirty="0"/>
              <a:t>de parcourir</a:t>
            </a:r>
            <a:r>
              <a:rPr lang="fr-FR" dirty="0" smtClean="0"/>
              <a:t>:</a:t>
            </a:r>
            <a:br>
              <a:rPr lang="fr-FR" dirty="0" smtClean="0"/>
            </a:br>
            <a:r>
              <a:rPr lang="fr-FR" dirty="0" smtClean="0"/>
              <a:t>créer une méthode permettant d’accéder à un élément de la collection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GetJoueurALaPosition de la classe ListeDeJoueur:</a:t>
            </a:r>
          </a:p>
          <a:p>
            <a:pPr marL="0" indent="0">
              <a:buNone/>
            </a:pPr>
            <a:r>
              <a:rPr lang="fr-FR" dirty="0" smtClean="0"/>
              <a:t>    </a:t>
            </a:r>
            <a:r>
              <a:rPr lang="fr-FR" dirty="0"/>
              <a:t>	</a:t>
            </a: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r>
              <a:rPr lang="fr-FR" dirty="0" smtClean="0"/>
              <a:t>Code du parcours de la ListeDeJoueur (</a:t>
            </a:r>
            <a:r>
              <a:rPr lang="fr-FR" sz="1800" dirty="0" smtClean="0"/>
              <a:t>dans le code p représente la listeDeJoueur)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708920"/>
            <a:ext cx="6344779" cy="1199424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4719CC8-9B46-49DE-BE9B-6257F35D93C8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4761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700" dirty="0" smtClean="0"/>
              <a:t>2ème façon de parcourir:</a:t>
            </a:r>
            <a:br>
              <a:rPr lang="fr-FR" sz="2700" dirty="0" smtClean="0"/>
            </a:br>
            <a:r>
              <a:rPr lang="fr-FR" sz="2700" dirty="0" smtClean="0"/>
              <a:t>Surcharge de l’opérateur [ ]</a:t>
            </a:r>
            <a:endParaRPr lang="fr-FR" sz="27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Dans la philosophie C#, on utilise pour accéder à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un élément d’une collection les [ ] (crochets)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r>
              <a:rPr lang="fr-FR" dirty="0" smtClean="0"/>
              <a:t>On </a:t>
            </a:r>
            <a:r>
              <a:rPr lang="fr-FR" dirty="0"/>
              <a:t>doit </a:t>
            </a:r>
            <a:r>
              <a:rPr lang="fr-FR" dirty="0" smtClean="0"/>
              <a:t>surcharger avec </a:t>
            </a:r>
            <a:r>
              <a:rPr lang="fr-FR" dirty="0"/>
              <a:t>le code suivant dans la </a:t>
            </a:r>
            <a:r>
              <a:rPr lang="fr-FR" dirty="0" smtClean="0"/>
              <a:t>classe ListeDeJoueur: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797152"/>
            <a:ext cx="6081192" cy="158417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492896"/>
            <a:ext cx="5832648" cy="1296144"/>
          </a:xfrm>
          <a:prstGeom prst="rect">
            <a:avLst/>
          </a:prstGeom>
        </p:spPr>
      </p:pic>
      <p:sp>
        <p:nvSpPr>
          <p:cNvPr id="6" name="Espace réservé de la date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EEB60-4F4A-4271-B960-8AC02E17FD8B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13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8242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700" dirty="0" smtClean="0"/>
              <a:t>3ème façon de parcourir:</a:t>
            </a:r>
            <a:br>
              <a:rPr lang="fr-FR" sz="2700" dirty="0" smtClean="0"/>
            </a:br>
            <a:r>
              <a:rPr lang="fr-FR" sz="2700" dirty="0" smtClean="0"/>
              <a:t>utilisation du pattern Iterator</a:t>
            </a:r>
            <a:endParaRPr lang="fr-FR" sz="27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60793" cy="4873752"/>
          </a:xfrm>
        </p:spPr>
        <p:txBody>
          <a:bodyPr>
            <a:normAutofit/>
          </a:bodyPr>
          <a:lstStyle/>
          <a:p>
            <a:r>
              <a:rPr lang="fr-FR" dirty="0" smtClean="0"/>
              <a:t>Cette façon fonctionne pour n’importe quel itérateur 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 smtClean="0"/>
              <a:t>Exemple utilisant l’itérateur implémenté: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99" y="4797152"/>
            <a:ext cx="7562417" cy="165618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99" y="1988840"/>
            <a:ext cx="6574332" cy="2232248"/>
          </a:xfrm>
          <a:prstGeom prst="rect">
            <a:avLst/>
          </a:prstGeom>
        </p:spPr>
      </p:pic>
      <p:sp>
        <p:nvSpPr>
          <p:cNvPr id="6" name="Espace réservé de la date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4E3E6C5-DB33-4826-A74E-45B6324C81B9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8430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4ème façon:</a:t>
            </a:r>
            <a:br>
              <a:rPr lang="fr-FR" dirty="0" smtClean="0"/>
            </a:br>
            <a:r>
              <a:rPr lang="fr-FR" dirty="0"/>
              <a:t>utilisation du pattern </a:t>
            </a:r>
            <a:r>
              <a:rPr lang="fr-FR" dirty="0" smtClean="0"/>
              <a:t>Iterator du Framework C#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 code est possible grâce à l’implémentation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des interfaces  </a:t>
            </a:r>
            <a:r>
              <a:rPr lang="fr-FR" b="1" i="1" dirty="0" smtClean="0"/>
              <a:t>IEnumerator &amp; IEnumerable</a:t>
            </a:r>
          </a:p>
          <a:p>
            <a:pPr marL="0" indent="0">
              <a:buNone/>
            </a:pPr>
            <a:r>
              <a:rPr lang="fr-FR" b="1" i="1" dirty="0"/>
              <a:t>	</a:t>
            </a:r>
            <a:r>
              <a:rPr lang="fr-FR" b="1" i="1" dirty="0" smtClean="0"/>
              <a:t>		</a:t>
            </a:r>
            <a:r>
              <a:rPr lang="fr-FR" dirty="0" smtClean="0"/>
              <a:t>en </a:t>
            </a:r>
            <a:r>
              <a:rPr lang="fr-FR" b="1" i="1" dirty="0" smtClean="0"/>
              <a:t>C#</a:t>
            </a:r>
          </a:p>
          <a:p>
            <a:pPr marL="0" indent="0">
              <a:buNone/>
            </a:pPr>
            <a:endParaRPr lang="fr-FR" b="1" i="1" dirty="0" smtClean="0"/>
          </a:p>
          <a:p>
            <a:pPr marL="0" indent="0">
              <a:buNone/>
            </a:pPr>
            <a:endParaRPr lang="fr-FR" b="1" i="1" dirty="0"/>
          </a:p>
          <a:p>
            <a:pPr marL="0" indent="0">
              <a:buNone/>
            </a:pPr>
            <a:endParaRPr lang="fr-FR" b="1" i="1" dirty="0"/>
          </a:p>
          <a:p>
            <a:r>
              <a:rPr lang="fr-FR" dirty="0" smtClean="0"/>
              <a:t>Le code est utilisé de manière transparente !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58" y="4653136"/>
            <a:ext cx="5161049" cy="1368152"/>
          </a:xfrm>
          <a:prstGeom prst="rect">
            <a:avLst/>
          </a:prstGeom>
        </p:spPr>
      </p:pic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02A416-2169-4027-842F-C3556D31161A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15</a:t>
            </a:fld>
            <a:endParaRPr lang="fr-BE" dirty="0"/>
          </a:p>
        </p:txBody>
      </p:sp>
      <p:grpSp>
        <p:nvGrpSpPr>
          <p:cNvPr id="12" name="Groupe 11"/>
          <p:cNvGrpSpPr/>
          <p:nvPr/>
        </p:nvGrpSpPr>
        <p:grpSpPr>
          <a:xfrm>
            <a:off x="4644008" y="2671310"/>
            <a:ext cx="2311127" cy="1445289"/>
            <a:chOff x="4644008" y="2671310"/>
            <a:chExt cx="2311127" cy="1445289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4008" y="2671310"/>
              <a:ext cx="1685925" cy="1445289"/>
            </a:xfrm>
            <a:prstGeom prst="rect">
              <a:avLst/>
            </a:prstGeom>
          </p:spPr>
        </p:pic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2160" y="3717032"/>
              <a:ext cx="9429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oupe 12"/>
          <p:cNvGrpSpPr/>
          <p:nvPr/>
        </p:nvGrpSpPr>
        <p:grpSpPr>
          <a:xfrm>
            <a:off x="1043608" y="2564904"/>
            <a:ext cx="1836787" cy="1724025"/>
            <a:chOff x="1043608" y="2564904"/>
            <a:chExt cx="1836787" cy="1724025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608" y="2564904"/>
              <a:ext cx="1743075" cy="1724025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1720" y="3426916"/>
              <a:ext cx="828675" cy="152400"/>
            </a:xfrm>
            <a:prstGeom prst="rect">
              <a:avLst/>
            </a:prstGeom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207" y="5085184"/>
            <a:ext cx="2676525" cy="1304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51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Application du Pattern avec des interfaces génériques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5FD4-A18C-44C2-9897-61041E87DCBE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3512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Des interfaces qui utilisent des génériques &lt; t &gt;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</a:t>
            </a:r>
            <a:r>
              <a:rPr lang="fr-FR" dirty="0" smtClean="0"/>
              <a:t>es interfaces IEnumerator&lt;T&gt; et IEnumerable&lt;T&gt;</a:t>
            </a:r>
          </a:p>
          <a:p>
            <a:pPr marL="0" indent="0">
              <a:buNone/>
            </a:pPr>
            <a:r>
              <a:rPr lang="fr-FR" dirty="0" smtClean="0"/>
              <a:t>sont des interfaces typées pour des </a:t>
            </a:r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Joueur</a:t>
            </a:r>
            <a:r>
              <a:rPr lang="fr-FR" dirty="0" smtClean="0"/>
              <a:t> dans une liste typées </a:t>
            </a:r>
            <a:r>
              <a:rPr lang="fr-FR" sz="2800" dirty="0" smtClean="0"/>
              <a:t>	</a:t>
            </a:r>
          </a:p>
          <a:p>
            <a:pPr marL="0" indent="0">
              <a:buNone/>
            </a:pPr>
            <a:r>
              <a:rPr lang="fr-FR" sz="2800" dirty="0"/>
              <a:t>	</a:t>
            </a:r>
            <a:endParaRPr lang="fr-FR" sz="5400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84" y="3090498"/>
            <a:ext cx="1485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218494-DF92-4CAF-9E79-A78F08C4B968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17</a:t>
            </a:fld>
            <a:endParaRPr lang="fr-BE" dirty="0"/>
          </a:p>
        </p:txBody>
      </p:sp>
      <p:grpSp>
        <p:nvGrpSpPr>
          <p:cNvPr id="12" name="Groupe 11"/>
          <p:cNvGrpSpPr/>
          <p:nvPr/>
        </p:nvGrpSpPr>
        <p:grpSpPr>
          <a:xfrm>
            <a:off x="6526171" y="4998306"/>
            <a:ext cx="1571625" cy="1219200"/>
            <a:chOff x="6516216" y="5301208"/>
            <a:chExt cx="1571625" cy="1219200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5301208"/>
              <a:ext cx="1571625" cy="1114425"/>
            </a:xfrm>
            <a:prstGeom prst="rect">
              <a:avLst/>
            </a:prstGeom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5135" y="6310858"/>
              <a:ext cx="94297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oupe 15"/>
          <p:cNvGrpSpPr/>
          <p:nvPr/>
        </p:nvGrpSpPr>
        <p:grpSpPr>
          <a:xfrm>
            <a:off x="2339752" y="3068959"/>
            <a:ext cx="6300192" cy="1710448"/>
            <a:chOff x="2339752" y="3068959"/>
            <a:chExt cx="6300192" cy="1710448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9752" y="3068959"/>
              <a:ext cx="6300192" cy="1480274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5472" y="4560332"/>
              <a:ext cx="4467225" cy="219075"/>
            </a:xfrm>
            <a:prstGeom prst="rect">
              <a:avLst/>
            </a:prstGeom>
          </p:spPr>
        </p:pic>
      </p:grpSp>
      <p:grpSp>
        <p:nvGrpSpPr>
          <p:cNvPr id="10" name="Groupe 9"/>
          <p:cNvGrpSpPr/>
          <p:nvPr/>
        </p:nvGrpSpPr>
        <p:grpSpPr>
          <a:xfrm>
            <a:off x="251520" y="5005533"/>
            <a:ext cx="7060463" cy="1705774"/>
            <a:chOff x="251520" y="5005533"/>
            <a:chExt cx="7060463" cy="1705774"/>
          </a:xfrm>
        </p:grpSpPr>
        <p:grpSp>
          <p:nvGrpSpPr>
            <p:cNvPr id="17" name="Groupe 16"/>
            <p:cNvGrpSpPr/>
            <p:nvPr/>
          </p:nvGrpSpPr>
          <p:grpSpPr>
            <a:xfrm>
              <a:off x="251520" y="5005533"/>
              <a:ext cx="6769174" cy="1705774"/>
              <a:chOff x="251520" y="5005533"/>
              <a:chExt cx="6769174" cy="1705774"/>
            </a:xfrm>
          </p:grpSpPr>
          <p:pic>
            <p:nvPicPr>
              <p:cNvPr id="7" name="Image 6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1520" y="5005533"/>
                <a:ext cx="5832648" cy="1705774"/>
              </a:xfrm>
              <a:prstGeom prst="rect">
                <a:avLst/>
              </a:prstGeom>
            </p:spPr>
          </p:pic>
          <p:pic>
            <p:nvPicPr>
              <p:cNvPr id="14" name="Image 13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2719" y="6453336"/>
                <a:ext cx="2847975" cy="133350"/>
              </a:xfrm>
              <a:prstGeom prst="rect">
                <a:avLst/>
              </a:prstGeom>
            </p:spPr>
          </p:pic>
        </p:grpSp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2058" y="6358086"/>
              <a:ext cx="3209925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446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Réalisation des interfaces</a:t>
            </a:r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Exemple de réalisation d’une implémentation pour la liste de joueur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996951"/>
            <a:ext cx="6120680" cy="3011763"/>
          </a:xfrm>
          <a:prstGeom prst="rect">
            <a:avLst/>
          </a:prstGeom>
        </p:spPr>
      </p:pic>
      <p:sp>
        <p:nvSpPr>
          <p:cNvPr id="11" name="Espace réservé de la date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38452C-B903-40C4-AB02-862877E738A7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18</a:t>
            </a:fld>
            <a:endParaRPr lang="fr-BE" dirty="0"/>
          </a:p>
        </p:txBody>
      </p:sp>
      <p:sp>
        <p:nvSpPr>
          <p:cNvPr id="13" name="ZoneTexte 12"/>
          <p:cNvSpPr txBox="1"/>
          <p:nvPr/>
        </p:nvSpPr>
        <p:spPr>
          <a:xfrm>
            <a:off x="459640" y="2492896"/>
            <a:ext cx="684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1600" dirty="0" smtClean="0"/>
              <a:t>Le </a:t>
            </a:r>
            <a:r>
              <a:rPr lang="fr-FR" sz="1600" b="1" dirty="0" smtClean="0"/>
              <a:t>current</a:t>
            </a:r>
            <a:r>
              <a:rPr lang="fr-FR" sz="1600" dirty="0" smtClean="0"/>
              <a:t> renvoie un </a:t>
            </a:r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Joueur</a:t>
            </a:r>
            <a:r>
              <a:rPr lang="fr-FR" sz="1600" dirty="0" smtClean="0"/>
              <a:t> et non plus un </a:t>
            </a:r>
            <a:r>
              <a:rPr lang="fr-FR" sz="1600" dirty="0" smtClean="0">
                <a:solidFill>
                  <a:schemeClr val="accent2">
                    <a:lumMod val="75000"/>
                  </a:schemeClr>
                </a:solidFill>
              </a:rPr>
              <a:t>Object</a:t>
            </a:r>
            <a:endParaRPr lang="fr-F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7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Réalisation des interface(suite)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4F014B9-9F20-4092-9595-BAA133C6C39A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19</a:t>
            </a:fld>
            <a:endParaRPr lang="fr-BE" dirty="0"/>
          </a:p>
        </p:txBody>
      </p:sp>
      <p:sp>
        <p:nvSpPr>
          <p:cNvPr id="6" name="Espace réservé du contenu 5"/>
          <p:cNvSpPr txBox="1">
            <a:spLocks noGrp="1"/>
          </p:cNvSpPr>
          <p:nvPr>
            <p:ph sz="quarter" idx="1"/>
          </p:nvPr>
        </p:nvSpPr>
        <p:spPr>
          <a:xfrm>
            <a:off x="497962" y="4170566"/>
            <a:ext cx="5842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fr-FR" sz="1600" dirty="0" smtClean="0"/>
              <a:t>3.  Réalisation de l’interface IEnumerable</a:t>
            </a:r>
            <a:endParaRPr lang="fr-FR" sz="1600" dirty="0"/>
          </a:p>
        </p:txBody>
      </p:sp>
      <p:sp>
        <p:nvSpPr>
          <p:cNvPr id="7" name="ZoneTexte 6"/>
          <p:cNvSpPr txBox="1"/>
          <p:nvPr/>
        </p:nvSpPr>
        <p:spPr>
          <a:xfrm>
            <a:off x="467543" y="1844824"/>
            <a:ext cx="784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2.  </a:t>
            </a:r>
            <a:r>
              <a:rPr lang="fr-FR" sz="1600" dirty="0" smtClean="0"/>
              <a:t>Réalisation de l’interface IEnumerable générique</a:t>
            </a:r>
            <a:endParaRPr lang="fr-FR" sz="16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492896"/>
            <a:ext cx="6192688" cy="134623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80" y="5085184"/>
            <a:ext cx="7436203" cy="123169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8799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méthode </a:t>
            </a:r>
            <a:r>
              <a:rPr lang="fr-FR" b="1" i="1" dirty="0" smtClean="0"/>
              <a:t>dispose </a:t>
            </a:r>
            <a:r>
              <a:rPr lang="fr-FR" dirty="0" smtClean="0"/>
              <a:t>de</a:t>
            </a:r>
            <a:r>
              <a:rPr lang="fr-FR" b="1" i="1" dirty="0" smtClean="0"/>
              <a:t> IDisposable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19256" cy="4873752"/>
          </a:xfrm>
        </p:spPr>
        <p:txBody>
          <a:bodyPr>
            <a:normAutofit lnSpcReduction="10000"/>
          </a:bodyPr>
          <a:lstStyle/>
          <a:p>
            <a:r>
              <a:rPr lang="fr-FR" dirty="0" smtClean="0"/>
              <a:t>L’interface IEnumerator réalise l’interface IDisposable et elle s’appelle au moment de la destruction de l’Objet        </a:t>
            </a:r>
            <a:r>
              <a:rPr lang="fr-FR" i="1" dirty="0" smtClean="0"/>
              <a:t>Enumerateur</a:t>
            </a:r>
            <a:r>
              <a:rPr lang="fr-FR" dirty="0" smtClean="0"/>
              <a:t> et dans cette méthode libère explicitement les ressources non managées de l’instance d’Enumerateur (un fichier, une fenêtre, …) grâce au </a:t>
            </a:r>
            <a:r>
              <a:rPr lang="fr-FR" b="1" i="1" dirty="0" smtClean="0"/>
              <a:t>Garbage Collector .</a:t>
            </a:r>
          </a:p>
          <a:p>
            <a:pPr marL="0" indent="0">
              <a:buNone/>
            </a:pPr>
            <a:endParaRPr lang="fr-FR" b="1" i="1" dirty="0"/>
          </a:p>
          <a:p>
            <a:pPr marL="0" indent="0">
              <a:buNone/>
            </a:pPr>
            <a:endParaRPr lang="fr-FR" b="1" i="1" dirty="0" smtClean="0"/>
          </a:p>
          <a:p>
            <a:pPr marL="0" indent="0">
              <a:buNone/>
            </a:pPr>
            <a:endParaRPr lang="fr-FR" b="1" i="1" dirty="0"/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 smtClean="0"/>
              <a:t>Le Garbage Collector libère automatiquement la mémoire allouée à un objet managé lorsque cet objet n’est plus utilisé. 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717032"/>
            <a:ext cx="4104456" cy="128058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70E482-0B84-4264-991D-7FE88E76F4DF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20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375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L’interface </a:t>
            </a:r>
            <a:r>
              <a:rPr lang="fr-FR" b="1" i="1" dirty="0" smtClean="0"/>
              <a:t>IDisposable</a:t>
            </a:r>
            <a:endParaRPr lang="fr-FR" b="1" i="1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68" y="1484784"/>
            <a:ext cx="8049864" cy="2744937"/>
          </a:xfrm>
          <a:ln>
            <a:solidFill>
              <a:schemeClr val="bg1"/>
            </a:solidFill>
          </a:ln>
        </p:spPr>
      </p:pic>
      <p:sp>
        <p:nvSpPr>
          <p:cNvPr id="10" name="Espace réservé de la date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704D38C-D754-4AC6-9E5F-0C917B087753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21</a:t>
            </a:fld>
            <a:endParaRPr lang="fr-BE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684" y="692697"/>
            <a:ext cx="3185644" cy="209530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755576" y="3789040"/>
            <a:ext cx="727280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Les objets ne peuvent pas être explicitement détruits. Le ramasse-miettes s’occupe de</a:t>
            </a:r>
          </a:p>
          <a:p>
            <a:r>
              <a:rPr lang="fr-FR" sz="1400" dirty="0" smtClean="0"/>
              <a:t>libérer la mémoire lorsqu’il n’existe plus aucune référence pointant sur un objet. </a:t>
            </a:r>
          </a:p>
          <a:p>
            <a:r>
              <a:rPr lang="fr-FR" sz="1400" dirty="0" smtClean="0"/>
              <a:t>Toutefois , pour les objets gérant des types non managés, il est possible d’implémenter </a:t>
            </a:r>
          </a:p>
          <a:p>
            <a:r>
              <a:rPr lang="fr-FR" sz="1400" dirty="0" smtClean="0"/>
              <a:t>l’interface </a:t>
            </a:r>
            <a:r>
              <a:rPr lang="fr-FR" sz="1400" b="1" i="1" dirty="0" smtClean="0"/>
              <a:t>IDisposable</a:t>
            </a:r>
            <a:r>
              <a:rPr lang="fr-FR" sz="1400" dirty="0" smtClean="0"/>
              <a:t> pour spécifier des traitement à effectuer au moment de la libération  de la ressource.</a:t>
            </a:r>
          </a:p>
          <a:p>
            <a:endParaRPr lang="fr-FR" sz="1400" dirty="0"/>
          </a:p>
          <a:p>
            <a:r>
              <a:rPr lang="fr-FR" sz="1400" dirty="0" smtClean="0"/>
              <a:t>Quand on appelle une classe qui implémente l’interface IDisposable il faut utiliser  </a:t>
            </a:r>
          </a:p>
          <a:p>
            <a:r>
              <a:rPr lang="fr-FR" sz="1400" b="1" dirty="0" smtClean="0"/>
              <a:t>« Try/</a:t>
            </a:r>
            <a:r>
              <a:rPr lang="fr-FR" sz="1400" b="1" dirty="0" err="1"/>
              <a:t>F</a:t>
            </a:r>
            <a:r>
              <a:rPr lang="fr-FR" sz="1400" b="1" dirty="0" err="1" smtClean="0"/>
              <a:t>inally</a:t>
            </a:r>
            <a:r>
              <a:rPr lang="fr-FR" sz="1400" b="1" dirty="0" smtClean="0"/>
              <a:t> »</a:t>
            </a:r>
            <a:r>
              <a:rPr lang="fr-FR" sz="1400" dirty="0" smtClean="0"/>
              <a:t> afin de s’assurer que les ressources non managées sont éliminés  même si une exception interrompt l’application.  </a:t>
            </a:r>
          </a:p>
          <a:p>
            <a:endParaRPr lang="fr-FR" sz="1400" dirty="0"/>
          </a:p>
          <a:p>
            <a:r>
              <a:rPr lang="fr-FR" sz="1200" i="1" u="sng" dirty="0"/>
              <a:t>Ressources</a:t>
            </a:r>
            <a:r>
              <a:rPr lang="fr-FR" sz="1200" dirty="0"/>
              <a:t> :http://</a:t>
            </a:r>
            <a:r>
              <a:rPr lang="fr-FR" sz="1200" dirty="0" smtClean="0"/>
              <a:t>msdn.microsoft.com/en-us/</a:t>
            </a:r>
            <a:r>
              <a:rPr lang="fr-FR" sz="1200" dirty="0" err="1" smtClean="0"/>
              <a:t>library</a:t>
            </a:r>
            <a:r>
              <a:rPr lang="fr-FR" sz="1200" dirty="0" smtClean="0"/>
              <a:t>/system.idisposable.aspx</a:t>
            </a:r>
          </a:p>
          <a:p>
            <a:r>
              <a:rPr lang="fr-FR" sz="1200" dirty="0" smtClean="0"/>
              <a:t>                    http</a:t>
            </a:r>
            <a:r>
              <a:rPr lang="fr-FR" sz="1200" dirty="0"/>
              <a:t>://codingly.com/2009/04/01/petit-rappel-sur-le-disposing-pattern-en-c/</a:t>
            </a:r>
            <a:endParaRPr lang="fr-FR" sz="1200" dirty="0" smtClean="0"/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62757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FIN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12A6-234C-420E-9227-5DDDEB188A82}" type="datetime1">
              <a:rPr lang="fr-FR" smtClean="0"/>
              <a:t>26/03/2013</a:t>
            </a:fld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22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463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.PatternComposit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1.PatternComposite</Template>
  <TotalTime>2544</TotalTime>
  <Words>488</Words>
  <Application>Microsoft Office PowerPoint</Application>
  <PresentationFormat>Affichage à l'écran (4:3)</PresentationFormat>
  <Paragraphs>136</Paragraphs>
  <Slides>22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1.PatternComposite</vt:lpstr>
      <vt:lpstr>Pattern Iterator</vt:lpstr>
      <vt:lpstr>Sommaire</vt:lpstr>
      <vt:lpstr>Introduction au Design Pattern Iterator</vt:lpstr>
      <vt:lpstr>C’est quoi</vt:lpstr>
      <vt:lpstr>Quand l'utiliser</vt:lpstr>
      <vt:lpstr>Pattern Itérator</vt:lpstr>
      <vt:lpstr>Diagramme de classe</vt:lpstr>
      <vt:lpstr>Application du Pattern avec les interfaces IEnumerator et IEnumerable de c#</vt:lpstr>
      <vt:lpstr>Exemples : Liste de joueurs</vt:lpstr>
      <vt:lpstr>Pattern Iterator en C#</vt:lpstr>
      <vt:lpstr>Pattern Iterator en C# (suite)</vt:lpstr>
      <vt:lpstr>1ère façon de parcourir: créer une méthode permettant d’accéder à un élément de la collection</vt:lpstr>
      <vt:lpstr>2ème façon de parcourir: Surcharge de l’opérateur [ ]</vt:lpstr>
      <vt:lpstr>3ème façon de parcourir: utilisation du pattern Iterator</vt:lpstr>
      <vt:lpstr>4ème façon: utilisation du pattern Iterator du Framework C#</vt:lpstr>
      <vt:lpstr>Application du Pattern avec des interfaces génériques</vt:lpstr>
      <vt:lpstr>Des interfaces qui utilisent des génériques &lt; t &gt;</vt:lpstr>
      <vt:lpstr>Réalisation des interfaces</vt:lpstr>
      <vt:lpstr>Réalisation des interface(suite)</vt:lpstr>
      <vt:lpstr>La méthode dispose de IDisposable</vt:lpstr>
      <vt:lpstr>L’interface IDisposable</vt:lpstr>
      <vt:lpstr>FIN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Iterator</dc:title>
  <dc:creator>crm1</dc:creator>
  <cp:lastModifiedBy>crm1</cp:lastModifiedBy>
  <cp:revision>85</cp:revision>
  <cp:lastPrinted>2013-03-25T09:43:53Z</cp:lastPrinted>
  <dcterms:created xsi:type="dcterms:W3CDTF">2013-03-13T08:51:19Z</dcterms:created>
  <dcterms:modified xsi:type="dcterms:W3CDTF">2013-03-26T11:00:17Z</dcterms:modified>
</cp:coreProperties>
</file>