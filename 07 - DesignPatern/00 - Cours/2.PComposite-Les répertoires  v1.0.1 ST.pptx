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56" r:id="rId5"/>
    <p:sldId id="259" r:id="rId6"/>
    <p:sldId id="266" r:id="rId7"/>
    <p:sldId id="261" r:id="rId8"/>
    <p:sldId id="263" r:id="rId9"/>
    <p:sldId id="262" r:id="rId10"/>
    <p:sldId id="269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CB6AE-12EF-4BE2-B759-23743BC0B5C2}" type="datetimeFigureOut">
              <a:rPr lang="fr-FR" smtClean="0"/>
              <a:t>05/08/2020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F92A9-1E8D-4A4D-BE84-BDA4840DD9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73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D716F7B-431C-456A-8136-41EE78A5E90E}" type="datetime1">
              <a:rPr lang="fr-FR" smtClean="0"/>
              <a:t>05/08/2020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6C2C5C7-B934-4BBA-92B6-DE66928A72CA}" type="datetime1">
              <a:rPr lang="fr-FR" smtClean="0"/>
              <a:t>05/08/2020</a:t>
            </a:fld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8646EA4-477C-4DF7-AD44-AFC5229D17B1}" type="datetime1">
              <a:rPr lang="fr-FR" smtClean="0"/>
              <a:t>05/08/2020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C8F80-EE22-429C-9457-04840DA1543E}" type="datetime1">
              <a:rPr lang="fr-FR" smtClean="0"/>
              <a:t>05/08/2020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BB03D-040B-4B78-AF3B-EB9E1E7735E6}" type="datetime1">
              <a:rPr lang="fr-FR" smtClean="0"/>
              <a:t>05/08/2020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4F3F7A2-9CC6-4460-83D2-10885B49376A}" type="datetime1">
              <a:rPr lang="fr-FR" smtClean="0"/>
              <a:t>05/08/2020</a:t>
            </a:fld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3012F-B8E4-4611-B1B5-B1BEAEA57E84}" type="datetime1">
              <a:rPr lang="fr-FR" smtClean="0"/>
              <a:t>05/08/2020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9EE186B4-0926-4594-8845-542B074810E5}" type="datetime1">
              <a:rPr lang="fr-FR" smtClean="0"/>
              <a:t>05/08/2020</a:t>
            </a:fld>
            <a:endParaRPr lang="fr-FR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9CE0E4F-5363-4AE8-A3E7-F8FD9E8C1EA6}" type="datetime1">
              <a:rPr lang="fr-FR" smtClean="0"/>
              <a:t>05/08/2020</a:t>
            </a:fld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A6FC4-AE67-4FF4-9C74-E69DD7CF27DD}" type="datetime1">
              <a:rPr lang="fr-FR" smtClean="0"/>
              <a:t>05/08/2020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02DD9-D616-4600-A3F4-9CBCF28E4419}" type="datetime1">
              <a:rPr lang="fr-FR" smtClean="0"/>
              <a:t>05/08/2020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F351629-4438-4350-A775-53DF860DED34}" type="datetime1">
              <a:rPr lang="fr-FR" smtClean="0"/>
              <a:t>05/08/2020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0631AA6-3EE3-48E0-9119-98E12B9E237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Pattern Composite: Exercice  sur les répertoires et Fichiers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188640"/>
            <a:ext cx="2671192" cy="1780795"/>
          </a:xfrm>
          <a:prstGeom prst="rect">
            <a:avLst/>
          </a:prstGeom>
        </p:spPr>
      </p:pic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278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39552" y="1268760"/>
            <a:ext cx="8229600" cy="1656183"/>
          </a:xfrm>
        </p:spPr>
        <p:txBody>
          <a:bodyPr>
            <a:normAutofit/>
          </a:bodyPr>
          <a:lstStyle/>
          <a:p>
            <a:pPr algn="just"/>
            <a:r>
              <a:rPr lang="fr-FR" sz="2000" dirty="0"/>
              <a:t>L’affichage de l’arborescence d’un répertoire contenant des fichiers et des sous répertoires contenant eux-mêmes d’autres répertoires ainsi que des fichiers, etc., est un exemple typique d’utilisation du Pattern Composite.</a:t>
            </a:r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algn="just"/>
            <a:endParaRPr lang="fr-FR" sz="2000" dirty="0"/>
          </a:p>
          <a:p>
            <a:pPr marL="0" indent="0" algn="just">
              <a:buNone/>
            </a:pPr>
            <a:endParaRPr lang="fr-F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140968"/>
            <a:ext cx="6151541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467600" cy="810344"/>
          </a:xfrm>
        </p:spPr>
        <p:txBody>
          <a:bodyPr/>
          <a:lstStyle/>
          <a:p>
            <a:r>
              <a:rPr lang="fr-FR" dirty="0"/>
              <a:t>les répertoires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887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49" y="2996952"/>
            <a:ext cx="6538913" cy="330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467544" y="1196752"/>
            <a:ext cx="6768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fr-FR" dirty="0"/>
              <a:t>Dans une console, les sous dossiers et les fichiers peuvent être indentés en fonction de leur ordre d’appartenance au dossier père les contenant, de façon récursive: on décale de 1 tiret par rapport à son père un fichier ou dossier appartenant.</a:t>
            </a:r>
          </a:p>
          <a:p>
            <a:endParaRPr lang="fr-FR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7467600" cy="810344"/>
          </a:xfrm>
        </p:spPr>
        <p:txBody>
          <a:bodyPr>
            <a:normAutofit fontScale="90000"/>
          </a:bodyPr>
          <a:lstStyle/>
          <a:p>
            <a:r>
              <a:rPr lang="fr-FR" dirty="0"/>
              <a:t>L’affichage des répertoires dans une console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324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/>
          <p:cNvGrpSpPr/>
          <p:nvPr/>
        </p:nvGrpSpPr>
        <p:grpSpPr>
          <a:xfrm>
            <a:off x="1692664" y="1180127"/>
            <a:ext cx="7055800" cy="5345217"/>
            <a:chOff x="1404632" y="180141"/>
            <a:chExt cx="6648196" cy="6004604"/>
          </a:xfrm>
        </p:grpSpPr>
        <p:sp>
          <p:nvSpPr>
            <p:cNvPr id="4" name="Rectangle 3"/>
            <p:cNvSpPr/>
            <p:nvPr/>
          </p:nvSpPr>
          <p:spPr>
            <a:xfrm>
              <a:off x="2449733" y="180141"/>
              <a:ext cx="2850729" cy="200739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477624" y="3510300"/>
              <a:ext cx="1956661" cy="17215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356631" y="1952836"/>
              <a:ext cx="2088232" cy="17641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384316" y="4611893"/>
              <a:ext cx="2160240" cy="15728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cxnSp>
          <p:nvCxnSpPr>
            <p:cNvPr id="9" name="Connecteur droit avec flèche 8"/>
            <p:cNvCxnSpPr>
              <a:endCxn id="56" idx="0"/>
            </p:cNvCxnSpPr>
            <p:nvPr/>
          </p:nvCxnSpPr>
          <p:spPr>
            <a:xfrm flipV="1">
              <a:off x="3419872" y="2161388"/>
              <a:ext cx="1969" cy="1348912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en angle 10"/>
            <p:cNvCxnSpPr>
              <a:endCxn id="57" idx="0"/>
            </p:cNvCxnSpPr>
            <p:nvPr/>
          </p:nvCxnSpPr>
          <p:spPr>
            <a:xfrm rot="10800000">
              <a:off x="4355976" y="2201018"/>
              <a:ext cx="1008112" cy="795934"/>
            </a:xfrm>
            <a:prstGeom prst="bentConnector4">
              <a:avLst>
                <a:gd name="adj1" fmla="val 46429"/>
                <a:gd name="adj2" fmla="val 453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/>
            <p:cNvCxnSpPr/>
            <p:nvPr/>
          </p:nvCxnSpPr>
          <p:spPr>
            <a:xfrm flipV="1">
              <a:off x="6499081" y="3717033"/>
              <a:ext cx="0" cy="894860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en angle 32"/>
            <p:cNvCxnSpPr/>
            <p:nvPr/>
          </p:nvCxnSpPr>
          <p:spPr>
            <a:xfrm rot="10800000">
              <a:off x="5292081" y="1124745"/>
              <a:ext cx="2526173" cy="1253633"/>
            </a:xfrm>
            <a:prstGeom prst="bentConnector3">
              <a:avLst>
                <a:gd name="adj1" fmla="val -7985"/>
              </a:avLst>
            </a:prstGeom>
            <a:ln w="28575">
              <a:headEnd type="diamond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Parallélogramme 36"/>
            <p:cNvSpPr/>
            <p:nvPr/>
          </p:nvSpPr>
          <p:spPr>
            <a:xfrm rot="2596026">
              <a:off x="7490042" y="2259798"/>
              <a:ext cx="265579" cy="23716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cxnSp>
          <p:nvCxnSpPr>
            <p:cNvPr id="42" name="Connecteur droit 41"/>
            <p:cNvCxnSpPr/>
            <p:nvPr/>
          </p:nvCxnSpPr>
          <p:spPr>
            <a:xfrm>
              <a:off x="2462178" y="557972"/>
              <a:ext cx="282990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>
              <a:off x="5364088" y="2276872"/>
              <a:ext cx="20882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>
              <a:off x="1477625" y="4365104"/>
              <a:ext cx="19442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/>
            <p:nvPr/>
          </p:nvCxnSpPr>
          <p:spPr>
            <a:xfrm>
              <a:off x="5383569" y="4901966"/>
              <a:ext cx="21602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ZoneTexte 51"/>
            <p:cNvSpPr txBox="1"/>
            <p:nvPr/>
          </p:nvSpPr>
          <p:spPr>
            <a:xfrm>
              <a:off x="2549172" y="180141"/>
              <a:ext cx="26642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i="1" dirty="0"/>
                <a:t>Composant</a:t>
              </a:r>
              <a:r>
                <a:rPr lang="fr-FR" sz="1200" dirty="0"/>
                <a:t> &lt;&lt;abstraite&gt;&gt;</a:t>
              </a:r>
            </a:p>
          </p:txBody>
        </p:sp>
        <p:sp>
          <p:nvSpPr>
            <p:cNvPr id="53" name="ZoneTexte 52"/>
            <p:cNvSpPr txBox="1"/>
            <p:nvPr/>
          </p:nvSpPr>
          <p:spPr>
            <a:xfrm>
              <a:off x="1549633" y="3532428"/>
              <a:ext cx="16561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Fichier</a:t>
              </a:r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5374690" y="1952836"/>
              <a:ext cx="2088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Composite</a:t>
              </a:r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5405494" y="4624967"/>
              <a:ext cx="2088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Dossier</a:t>
              </a:r>
            </a:p>
          </p:txBody>
        </p:sp>
        <p:sp>
          <p:nvSpPr>
            <p:cNvPr id="56" name="Triangle isocèle 55"/>
            <p:cNvSpPr/>
            <p:nvPr/>
          </p:nvSpPr>
          <p:spPr>
            <a:xfrm>
              <a:off x="3349833" y="2161388"/>
              <a:ext cx="144016" cy="216024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sp>
          <p:nvSpPr>
            <p:cNvPr id="57" name="Triangle isocèle 56"/>
            <p:cNvSpPr/>
            <p:nvPr/>
          </p:nvSpPr>
          <p:spPr>
            <a:xfrm>
              <a:off x="4283968" y="2201018"/>
              <a:ext cx="144016" cy="216024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sp>
          <p:nvSpPr>
            <p:cNvPr id="58" name="Triangle isocèle 57"/>
            <p:cNvSpPr/>
            <p:nvPr/>
          </p:nvSpPr>
          <p:spPr>
            <a:xfrm>
              <a:off x="6418753" y="3717201"/>
              <a:ext cx="144016" cy="216024"/>
            </a:xfrm>
            <a:prstGeom prst="triangl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1200"/>
            </a:p>
          </p:txBody>
        </p:sp>
        <p:cxnSp>
          <p:nvCxnSpPr>
            <p:cNvPr id="61" name="Connecteur droit 60"/>
            <p:cNvCxnSpPr/>
            <p:nvPr/>
          </p:nvCxnSpPr>
          <p:spPr>
            <a:xfrm flipV="1">
              <a:off x="5292081" y="1025562"/>
              <a:ext cx="216023" cy="991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/>
            <p:cNvCxnSpPr/>
            <p:nvPr/>
          </p:nvCxnSpPr>
          <p:spPr>
            <a:xfrm>
              <a:off x="5292080" y="1124744"/>
              <a:ext cx="216024" cy="7200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ZoneTexte 69"/>
            <p:cNvSpPr txBox="1"/>
            <p:nvPr/>
          </p:nvSpPr>
          <p:spPr>
            <a:xfrm>
              <a:off x="2420388" y="1075153"/>
              <a:ext cx="27930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+Composant(string  nom)</a:t>
              </a:r>
            </a:p>
          </p:txBody>
        </p:sp>
        <p:sp>
          <p:nvSpPr>
            <p:cNvPr id="72" name="ZoneTexte 71"/>
            <p:cNvSpPr txBox="1"/>
            <p:nvPr/>
          </p:nvSpPr>
          <p:spPr>
            <a:xfrm>
              <a:off x="5374458" y="3382954"/>
              <a:ext cx="20882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 +Formate( int ind) : string</a:t>
              </a:r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5390668" y="5876968"/>
              <a:ext cx="211788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 Formate( int ind) : string</a:t>
              </a:r>
            </a:p>
          </p:txBody>
        </p:sp>
        <p:sp>
          <p:nvSpPr>
            <p:cNvPr id="74" name="ZoneTexte 73"/>
            <p:cNvSpPr txBox="1"/>
            <p:nvPr/>
          </p:nvSpPr>
          <p:spPr>
            <a:xfrm>
              <a:off x="1404632" y="4869159"/>
              <a:ext cx="21602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 Formate( int ind) : string</a:t>
              </a:r>
            </a:p>
          </p:txBody>
        </p:sp>
        <p:sp>
          <p:nvSpPr>
            <p:cNvPr id="76" name="ZoneTexte 75"/>
            <p:cNvSpPr txBox="1"/>
            <p:nvPr/>
          </p:nvSpPr>
          <p:spPr>
            <a:xfrm>
              <a:off x="5383569" y="3111379"/>
              <a:ext cx="1944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 +Repertorie() : void</a:t>
              </a:r>
            </a:p>
          </p:txBody>
        </p:sp>
        <p:sp>
          <p:nvSpPr>
            <p:cNvPr id="77" name="ZoneTexte 76"/>
            <p:cNvSpPr txBox="1"/>
            <p:nvPr/>
          </p:nvSpPr>
          <p:spPr>
            <a:xfrm>
              <a:off x="5400092" y="5633315"/>
              <a:ext cx="1944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 Repertorie() : void</a:t>
              </a:r>
            </a:p>
          </p:txBody>
        </p:sp>
        <p:sp>
          <p:nvSpPr>
            <p:cNvPr id="78" name="ZoneTexte 77"/>
            <p:cNvSpPr txBox="1"/>
            <p:nvPr/>
          </p:nvSpPr>
          <p:spPr>
            <a:xfrm>
              <a:off x="1490070" y="4611893"/>
              <a:ext cx="19442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 Repertorie() : void</a:t>
              </a:r>
            </a:p>
          </p:txBody>
        </p:sp>
        <p:sp>
          <p:nvSpPr>
            <p:cNvPr id="79" name="ZoneTexte 78"/>
            <p:cNvSpPr txBox="1"/>
            <p:nvPr/>
          </p:nvSpPr>
          <p:spPr>
            <a:xfrm>
              <a:off x="5374690" y="688340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*</a:t>
              </a:r>
            </a:p>
          </p:txBody>
        </p:sp>
        <p:sp>
          <p:nvSpPr>
            <p:cNvPr id="80" name="ZoneTexte 79"/>
            <p:cNvSpPr txBox="1"/>
            <p:nvPr/>
          </p:nvSpPr>
          <p:spPr>
            <a:xfrm>
              <a:off x="7548772" y="2492896"/>
              <a:ext cx="504056" cy="311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0..1</a:t>
              </a:r>
            </a:p>
          </p:txBody>
        </p:sp>
        <p:cxnSp>
          <p:nvCxnSpPr>
            <p:cNvPr id="83" name="Connecteur droit 82"/>
            <p:cNvCxnSpPr/>
            <p:nvPr/>
          </p:nvCxnSpPr>
          <p:spPr>
            <a:xfrm>
              <a:off x="2462178" y="1042962"/>
              <a:ext cx="283828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ZoneTexte 83"/>
            <p:cNvSpPr txBox="1"/>
            <p:nvPr/>
          </p:nvSpPr>
          <p:spPr>
            <a:xfrm>
              <a:off x="2484752" y="545355"/>
              <a:ext cx="24398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# nom : string</a:t>
              </a:r>
            </a:p>
          </p:txBody>
        </p:sp>
        <p:cxnSp>
          <p:nvCxnSpPr>
            <p:cNvPr id="86" name="Connecteur droit 85"/>
            <p:cNvCxnSpPr/>
            <p:nvPr/>
          </p:nvCxnSpPr>
          <p:spPr>
            <a:xfrm>
              <a:off x="1475656" y="3825213"/>
              <a:ext cx="194421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eur droit 87"/>
            <p:cNvCxnSpPr/>
            <p:nvPr/>
          </p:nvCxnSpPr>
          <p:spPr>
            <a:xfrm>
              <a:off x="5356631" y="2834934"/>
              <a:ext cx="208823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eur droit 89"/>
            <p:cNvCxnSpPr/>
            <p:nvPr/>
          </p:nvCxnSpPr>
          <p:spPr>
            <a:xfrm>
              <a:off x="5400092" y="5373216"/>
              <a:ext cx="21602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ZoneTexte 23"/>
            <p:cNvSpPr txBox="1"/>
            <p:nvPr/>
          </p:nvSpPr>
          <p:spPr>
            <a:xfrm>
              <a:off x="2484752" y="743108"/>
              <a:ext cx="1440160" cy="3111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# indentation : int</a:t>
              </a: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2428578" y="1353051"/>
              <a:ext cx="28930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+Repertorie() : void   &lt;&lt;abstract&gt;&gt;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2417430" y="1645059"/>
              <a:ext cx="30906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+Formate( int ind) : string&lt;&lt;abstract&gt;&gt;</a:t>
              </a: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5713038" y="767376"/>
              <a:ext cx="20447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# liste</a:t>
              </a:r>
            </a:p>
          </p:txBody>
        </p:sp>
        <p:sp>
          <p:nvSpPr>
            <p:cNvPr id="34" name="ZoneTexte 33"/>
            <p:cNvSpPr txBox="1"/>
            <p:nvPr/>
          </p:nvSpPr>
          <p:spPr>
            <a:xfrm>
              <a:off x="5400092" y="2835844"/>
              <a:ext cx="20447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+Composite(string nom)</a:t>
              </a: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5420320" y="5373216"/>
              <a:ext cx="204260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 Dossier(string nom)</a:t>
              </a:r>
            </a:p>
          </p:txBody>
        </p:sp>
        <p:sp>
          <p:nvSpPr>
            <p:cNvPr id="36" name="ZoneTexte 35"/>
            <p:cNvSpPr txBox="1"/>
            <p:nvPr/>
          </p:nvSpPr>
          <p:spPr>
            <a:xfrm>
              <a:off x="1475656" y="4411052"/>
              <a:ext cx="184139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/>
                <a:t>+ Fichier(string nom)</a:t>
              </a:r>
            </a:p>
          </p:txBody>
        </p:sp>
      </p:grpSp>
      <p:sp>
        <p:nvSpPr>
          <p:cNvPr id="8" name="ZoneTexte 7"/>
          <p:cNvSpPr txBox="1"/>
          <p:nvPr/>
        </p:nvSpPr>
        <p:spPr>
          <a:xfrm>
            <a:off x="466192" y="5802932"/>
            <a:ext cx="51627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paramètres « nom » et « indentation » (le niveau d’indentation) sont </a:t>
            </a:r>
            <a:r>
              <a:rPr lang="fr-FR" u="sng" dirty="0"/>
              <a:t>protected </a:t>
            </a:r>
            <a:r>
              <a:rPr lang="fr-FR" dirty="0"/>
              <a:t>(#) afin de pouvoir les utiliser dans les classes héritées. </a:t>
            </a:r>
          </a:p>
          <a:p>
            <a:endParaRPr lang="fr-FR" dirty="0"/>
          </a:p>
        </p:txBody>
      </p:sp>
      <p:sp>
        <p:nvSpPr>
          <p:cNvPr id="49" name="Titre 1"/>
          <p:cNvSpPr>
            <a:spLocks noGrp="1"/>
          </p:cNvSpPr>
          <p:nvPr>
            <p:ph type="title"/>
          </p:nvPr>
        </p:nvSpPr>
        <p:spPr>
          <a:xfrm>
            <a:off x="179512" y="0"/>
            <a:ext cx="8568952" cy="1143000"/>
          </a:xfrm>
        </p:spPr>
        <p:txBody>
          <a:bodyPr/>
          <a:lstStyle/>
          <a:p>
            <a:r>
              <a:rPr lang="fr-FR" dirty="0"/>
              <a:t>Le pattern composite pour représenter les répertoires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4837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57200" y="1196752"/>
            <a:ext cx="8229600" cy="4929411"/>
          </a:xfrm>
        </p:spPr>
        <p:txBody>
          <a:bodyPr>
            <a:normAutofit/>
          </a:bodyPr>
          <a:lstStyle/>
          <a:p>
            <a:pPr algn="just"/>
            <a:r>
              <a:rPr lang="fr-FR" sz="2000" dirty="0"/>
              <a:t>La méthode </a:t>
            </a:r>
            <a:r>
              <a:rPr lang="fr-FR" sz="2000" b="1" dirty="0"/>
              <a:t>Répertorie():void</a:t>
            </a:r>
            <a:r>
              <a:rPr lang="fr-FR" sz="2000" dirty="0"/>
              <a:t> permet d’identifier tous les composants du Répertoire.</a:t>
            </a:r>
            <a:endParaRPr lang="fr-FR" sz="2000" dirty="0">
              <a:solidFill>
                <a:srgbClr val="FF0000"/>
              </a:solidFill>
            </a:endParaRPr>
          </a:p>
          <a:p>
            <a:endParaRPr lang="fr-FR" sz="2000" dirty="0"/>
          </a:p>
          <a:p>
            <a:pPr algn="just"/>
            <a:r>
              <a:rPr lang="fr-FR" sz="2000" dirty="0"/>
              <a:t>La fonction </a:t>
            </a:r>
            <a:r>
              <a:rPr lang="fr-FR" sz="2000" b="1" dirty="0"/>
              <a:t>Formate(int ind):string </a:t>
            </a:r>
            <a:r>
              <a:rPr lang="fr-FR" sz="2000" dirty="0"/>
              <a:t>donne un affichage Console en arborescence du répertoire analysé: en argument, on passe l’indentation de chaque sous élément.</a:t>
            </a:r>
          </a:p>
          <a:p>
            <a:pPr marL="0" indent="0" algn="just">
              <a:buNone/>
            </a:pPr>
            <a:endParaRPr lang="fr-FR" sz="2000" dirty="0"/>
          </a:p>
          <a:p>
            <a:pPr algn="just"/>
            <a:r>
              <a:rPr lang="fr-FR" sz="2000" dirty="0"/>
              <a:t>Les méthodes de la classe « Composant » sont marquées &lt;&lt;abstract&gt;&gt;, elles sont implémentées dans les classes filles.</a:t>
            </a:r>
          </a:p>
          <a:p>
            <a:pPr algn="just"/>
            <a:endParaRPr lang="fr-FR" sz="2000" dirty="0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316252" y="188640"/>
            <a:ext cx="7467600" cy="954360"/>
          </a:xfrm>
        </p:spPr>
        <p:txBody>
          <a:bodyPr/>
          <a:lstStyle/>
          <a:p>
            <a:r>
              <a:rPr lang="fr-FR" dirty="0"/>
              <a:t>Les comportements a </a:t>
            </a:r>
            <a:r>
              <a:rPr lang="fr-FR" dirty="0" err="1"/>
              <a:t>implementer</a:t>
            </a:r>
            <a:endParaRPr 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5297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95536" y="1196752"/>
            <a:ext cx="8229600" cy="5505475"/>
          </a:xfrm>
        </p:spPr>
        <p:txBody>
          <a:bodyPr>
            <a:normAutofit/>
          </a:bodyPr>
          <a:lstStyle/>
          <a:p>
            <a:r>
              <a:rPr lang="fr-FR" sz="1800" dirty="0"/>
              <a:t>Afin de rechercher des fichiers et des sous dossiers, vous aurez besoin de la méthode suivante : </a:t>
            </a:r>
          </a:p>
          <a:p>
            <a:pPr marL="0" indent="0">
              <a:buNone/>
            </a:pPr>
            <a:r>
              <a:rPr lang="fr-FR" sz="1800" dirty="0"/>
              <a:t>				 </a:t>
            </a:r>
            <a:endParaRPr lang="fr-FR" sz="1400" dirty="0"/>
          </a:p>
          <a:p>
            <a:pPr marL="365760" lvl="1" indent="0">
              <a:buNone/>
            </a:pPr>
            <a:r>
              <a:rPr lang="fr-FR" sz="1800" dirty="0"/>
              <a:t>Elle renvoie un string[] (Tableau de string) de toutes les entrées, fichiers et dossiers.</a:t>
            </a:r>
            <a:endParaRPr lang="fr-FR" sz="1800" dirty="0">
              <a:solidFill>
                <a:srgbClr val="FF0000"/>
              </a:solidFill>
            </a:endParaRPr>
          </a:p>
          <a:p>
            <a:pPr marL="365760" lvl="1" indent="0">
              <a:buNone/>
            </a:pPr>
            <a:endParaRPr lang="fr-FR" sz="2000" dirty="0">
              <a:latin typeface="Consolas"/>
            </a:endParaRPr>
          </a:p>
          <a:p>
            <a:r>
              <a:rPr lang="fr-FR" sz="1800" dirty="0">
                <a:latin typeface="Calibri" pitchFamily="34" charset="0"/>
                <a:cs typeface="Calibri" pitchFamily="34" charset="0"/>
              </a:rPr>
              <a:t>Pour tester si un </a:t>
            </a:r>
            <a:r>
              <a:rPr lang="fr-FR" sz="1800" i="1" dirty="0">
                <a:latin typeface="Calibri" pitchFamily="34" charset="0"/>
                <a:cs typeface="Calibri" pitchFamily="34" charset="0"/>
              </a:rPr>
              <a:t>path</a:t>
            </a:r>
            <a:r>
              <a:rPr lang="fr-FR" sz="1800" dirty="0">
                <a:latin typeface="Calibri" pitchFamily="34" charset="0"/>
                <a:cs typeface="Calibri" pitchFamily="34" charset="0"/>
              </a:rPr>
              <a:t> correspond à</a:t>
            </a:r>
            <a:r>
              <a:rPr lang="fr-FR" sz="1800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sz="1800" dirty="0">
                <a:latin typeface="Calibri" pitchFamily="34" charset="0"/>
                <a:cs typeface="Calibri" pitchFamily="34" charset="0"/>
              </a:rPr>
              <a:t>un dossier ou un fichier, utilisez les attributs du fichier :</a:t>
            </a:r>
          </a:p>
          <a:p>
            <a:pPr marL="0" indent="0">
              <a:buNone/>
            </a:pPr>
            <a:endParaRPr lang="fr-FR" sz="1800" dirty="0">
              <a:latin typeface="Consolas"/>
            </a:endParaRPr>
          </a:p>
          <a:p>
            <a:endParaRPr lang="fr-FR" sz="1800" dirty="0"/>
          </a:p>
          <a:p>
            <a:pPr marL="365760" lvl="1" indent="0">
              <a:buNone/>
            </a:pPr>
            <a:r>
              <a:rPr lang="fr-FR" sz="1500" dirty="0"/>
              <a:t>Puis testez le par la méthode HasFlag :</a:t>
            </a:r>
          </a:p>
          <a:p>
            <a:endParaRPr lang="fr-FR" sz="1800" dirty="0"/>
          </a:p>
          <a:p>
            <a:pPr marL="0" indent="0">
              <a:buNone/>
            </a:pPr>
            <a:r>
              <a:rPr lang="fr-FR" sz="1800" dirty="0"/>
              <a:t>      Il renvoie ‘true‘ pour un Directory</a:t>
            </a:r>
          </a:p>
          <a:p>
            <a:pPr marL="0" indent="0">
              <a:buNone/>
            </a:pPr>
            <a:r>
              <a:rPr lang="fr-FR" sz="1800" dirty="0"/>
              <a:t>                                                               </a:t>
            </a:r>
          </a:p>
          <a:p>
            <a:pPr marL="365760" lvl="1" indent="0">
              <a:buNone/>
            </a:pPr>
            <a:r>
              <a:rPr lang="fr-FR" sz="1500" dirty="0"/>
              <a:t> </a:t>
            </a:r>
          </a:p>
          <a:p>
            <a:pPr marL="365760" lvl="1" indent="0">
              <a:buNone/>
            </a:pPr>
            <a:r>
              <a:rPr lang="fr-FR" sz="1800" dirty="0"/>
              <a:t>Il renvoie ‘true’ pour un fichier</a:t>
            </a:r>
          </a:p>
          <a:p>
            <a:endParaRPr lang="fr-FR" sz="2000" dirty="0"/>
          </a:p>
          <a:p>
            <a:endParaRPr lang="fr-FR" sz="2000" dirty="0"/>
          </a:p>
          <a:p>
            <a:endParaRPr lang="fr-FR" sz="2000" dirty="0">
              <a:latin typeface="Consolas"/>
            </a:endParaRPr>
          </a:p>
          <a:p>
            <a:endParaRPr lang="fr-FR" sz="2000" dirty="0"/>
          </a:p>
          <a:p>
            <a:endParaRPr lang="fr-FR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756769"/>
            <a:ext cx="3528392" cy="28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551" y="3861049"/>
            <a:ext cx="5184576" cy="2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551" y="4728960"/>
            <a:ext cx="3600400" cy="35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551" y="5588198"/>
            <a:ext cx="3522481" cy="289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16252" y="0"/>
            <a:ext cx="7467600" cy="1143000"/>
          </a:xfrm>
        </p:spPr>
        <p:txBody>
          <a:bodyPr/>
          <a:lstStyle/>
          <a:p>
            <a:r>
              <a:rPr lang="fr-FR" dirty="0"/>
              <a:t>Outils C#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91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49056" y="791355"/>
            <a:ext cx="7467600" cy="5637240"/>
          </a:xfrm>
        </p:spPr>
        <p:txBody>
          <a:bodyPr/>
          <a:lstStyle/>
          <a:p>
            <a:pPr algn="just"/>
            <a:endParaRPr lang="fr-FR" sz="1800" dirty="0"/>
          </a:p>
          <a:p>
            <a:pPr algn="just"/>
            <a:r>
              <a:rPr lang="fr-FR" sz="1800" dirty="0"/>
              <a:t>Réalisez l’implémentation!</a:t>
            </a:r>
          </a:p>
          <a:p>
            <a:pPr algn="just"/>
            <a:r>
              <a:rPr lang="fr-FR" sz="1800" dirty="0"/>
              <a:t>Pour tester votre application, il conviendra de choisir un dossier dont vous avez les droits d’accès, notamment en lecture.</a:t>
            </a:r>
          </a:p>
          <a:p>
            <a:pPr algn="just"/>
            <a:r>
              <a:rPr lang="fr-FR" sz="1800" dirty="0"/>
              <a:t> La propriété Hidden permet de savoir si le dossier est accessible.</a:t>
            </a:r>
          </a:p>
          <a:p>
            <a:endParaRPr lang="fr-F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708920"/>
            <a:ext cx="4392488" cy="64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316252" y="116632"/>
            <a:ext cx="7467600" cy="720080"/>
          </a:xfrm>
        </p:spPr>
        <p:txBody>
          <a:bodyPr/>
          <a:lstStyle/>
          <a:p>
            <a:r>
              <a:rPr lang="fr-FR" dirty="0"/>
              <a:t>Exercice: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0631AA6-3EE3-48E0-9119-98E12B9E237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502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6eaceda-cbf3-468d-8b56-0d06245bcac2" xsi:nil="true"/>
    <lcf76f155ced4ddcb4097134ff3c332f xmlns="6080a0f0-b892-4d13-a236-ec5452db620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4D18AFC2ED4A46A0F9BA49ABF7FDFD" ma:contentTypeVersion="14" ma:contentTypeDescription="Crée un document." ma:contentTypeScope="" ma:versionID="5545bc03923270c1edade65b3557eae2">
  <xsd:schema xmlns:xsd="http://www.w3.org/2001/XMLSchema" xmlns:xs="http://www.w3.org/2001/XMLSchema" xmlns:p="http://schemas.microsoft.com/office/2006/metadata/properties" xmlns:ns2="6080a0f0-b892-4d13-a236-ec5452db6204" xmlns:ns3="66eaceda-cbf3-468d-8b56-0d06245bcac2" targetNamespace="http://schemas.microsoft.com/office/2006/metadata/properties" ma:root="true" ma:fieldsID="16f2a05fedb28428c19ef56689ee569a" ns2:_="" ns3:_="">
    <xsd:import namespace="6080a0f0-b892-4d13-a236-ec5452db6204"/>
    <xsd:import namespace="66eaceda-cbf3-468d-8b56-0d06245bca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0a0f0-b892-4d13-a236-ec5452db62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5670c8b0-d14d-43b6-a5fe-074fa8bf23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eaceda-cbf3-468d-8b56-0d06245bcac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8e8ae81-97f1-4b7a-bbe7-f413fdd1932c}" ma:internalName="TaxCatchAll" ma:showField="CatchAllData" ma:web="66eaceda-cbf3-468d-8b56-0d06245bca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057B3E-0FAD-4C64-BFDC-DD44C24EB8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39787D-A421-49DE-A68F-D9218E2BB6EB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28F33D2-5A12-4ADF-BE83-AAC0EE986FFA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1180</TotalTime>
  <Words>438</Words>
  <Application>Microsoft Office PowerPoint</Application>
  <PresentationFormat>Affichage à l'écran (4:3)</PresentationFormat>
  <Paragraphs>76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Schoolbook</vt:lpstr>
      <vt:lpstr>Consolas</vt:lpstr>
      <vt:lpstr>Wingdings</vt:lpstr>
      <vt:lpstr>Wingdings 2</vt:lpstr>
      <vt:lpstr>Oriel</vt:lpstr>
      <vt:lpstr>Pattern Composite: Exercice  sur les répertoires et Fichiers</vt:lpstr>
      <vt:lpstr>les répertoires</vt:lpstr>
      <vt:lpstr>L’affichage des répertoires dans une console</vt:lpstr>
      <vt:lpstr>Le pattern composite pour représenter les répertoires</vt:lpstr>
      <vt:lpstr>Les comportements a implementer</vt:lpstr>
      <vt:lpstr>Outils C#</vt:lpstr>
      <vt:lpstr>Exercice: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Composite</dc:title>
  <dc:creator>crm2</dc:creator>
  <cp:lastModifiedBy>THIRY Sophie</cp:lastModifiedBy>
  <cp:revision>49</cp:revision>
  <dcterms:created xsi:type="dcterms:W3CDTF">2012-12-04T13:31:56Z</dcterms:created>
  <dcterms:modified xsi:type="dcterms:W3CDTF">2020-08-05T07:52:38Z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0x010100A54D18AFC2ED4A46A0F9BA49ABF7FDFD</vt:lpwstr>
  </property>
</Properties>
</file>